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328" r:id="rId4"/>
    <p:sldId id="329" r:id="rId5"/>
    <p:sldId id="330" r:id="rId6"/>
    <p:sldId id="331" r:id="rId7"/>
    <p:sldId id="332" r:id="rId8"/>
    <p:sldId id="31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981A"/>
    <a:srgbClr val="EF21A5"/>
    <a:srgbClr val="86E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94660"/>
  </p:normalViewPr>
  <p:slideViewPr>
    <p:cSldViewPr>
      <p:cViewPr>
        <p:scale>
          <a:sx n="82" d="100"/>
          <a:sy n="82" d="100"/>
        </p:scale>
        <p:origin x="132" y="7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6BF2B-5C4A-47AE-BBD7-CC8F22B78A50}" type="datetimeFigureOut">
              <a:rPr lang="fr-FR" smtClean="0"/>
              <a:pPr/>
              <a:t>31/01/2021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6DA30-29E9-4E41-8B2C-69C4DE83DBB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43472" y="1412776"/>
            <a:ext cx="9505056" cy="2376263"/>
          </a:xfrm>
        </p:spPr>
        <p:txBody>
          <a:bodyPr>
            <a:normAutofit/>
          </a:bodyPr>
          <a:lstStyle/>
          <a:p>
            <a:r>
              <a:rPr lang="fr-FR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Recherche exacte de </a:t>
            </a:r>
            <a:r>
              <a:rPr lang="fr-FR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motifs : </a:t>
            </a:r>
            <a:br>
              <a:rPr lang="fr-FR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fr-FR" sz="3200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l’</a:t>
            </a:r>
            <a:r>
              <a:rPr lang="fr-FR" sz="3200" dirty="0" err="1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ago</a:t>
            </a:r>
            <a:r>
              <a:rPr lang="fr-FR" sz="3200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naïf à l’</a:t>
            </a:r>
            <a:r>
              <a:rPr lang="fr-FR" sz="3200" dirty="0" err="1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algo</a:t>
            </a:r>
            <a:r>
              <a:rPr lang="fr-FR" sz="3200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Morris-Pratt</a:t>
            </a:r>
            <a:endParaRPr lang="fr-FR" sz="3200" dirty="0">
              <a:ln>
                <a:solidFill>
                  <a:schemeClr val="accent3">
                    <a:lumMod val="50000"/>
                  </a:schemeClr>
                </a:solidFill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0" y="5373216"/>
            <a:ext cx="6400800" cy="1752600"/>
          </a:xfrm>
          <a:ln>
            <a:noFill/>
          </a:ln>
        </p:spPr>
        <p:txBody>
          <a:bodyPr/>
          <a:lstStyle/>
          <a:p>
            <a:r>
              <a:rPr lang="fr-FR" dirty="0" err="1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</a:rPr>
              <a:t>Term</a:t>
            </a:r>
            <a:r>
              <a:rPr lang="fr-FR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</a:rPr>
              <a:t> NSI</a:t>
            </a:r>
          </a:p>
          <a:p>
            <a:r>
              <a:rPr lang="fr-FR" dirty="0" smtClean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1"/>
                </a:solidFill>
              </a:rPr>
              <a:t>Séance recherche textuelle n°2</a:t>
            </a:r>
            <a:endParaRPr lang="fr-FR" dirty="0">
              <a:ln>
                <a:solidFill>
                  <a:schemeClr val="accent3">
                    <a:lumMod val="50000"/>
                  </a:schemeClr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1775520" y="1664804"/>
            <a:ext cx="9505056" cy="29523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Recherche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de motif- </a:t>
            </a:r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Algorithme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naïf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07014"/>
              </p:ext>
            </p:extLst>
          </p:nvPr>
        </p:nvGraphicFramePr>
        <p:xfrm>
          <a:off x="1991544" y="2852936"/>
          <a:ext cx="8280928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49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fr-FR" sz="2400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41065"/>
              </p:ext>
            </p:extLst>
          </p:nvPr>
        </p:nvGraphicFramePr>
        <p:xfrm>
          <a:off x="1991544" y="3356992"/>
          <a:ext cx="3154638" cy="576064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49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solidFill>
                            <a:srgbClr val="FF0000"/>
                          </a:solidFill>
                        </a:rPr>
                        <a:t>M</a:t>
                      </a:r>
                      <a:endParaRPr lang="fr-FR" sz="2400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Connecteur droit avec flèche 12"/>
          <p:cNvCxnSpPr/>
          <p:nvPr/>
        </p:nvCxnSpPr>
        <p:spPr>
          <a:xfrm>
            <a:off x="2639616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2999656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3359696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3719736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2999656" y="220486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2855640" y="3356992"/>
          <a:ext cx="2760310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9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Connecteur droit avec flèche 25"/>
          <p:cNvCxnSpPr/>
          <p:nvPr/>
        </p:nvCxnSpPr>
        <p:spPr>
          <a:xfrm>
            <a:off x="3359696" y="220486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3215680" y="3356992"/>
          <a:ext cx="2760310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9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Connecteur droit avec flèche 27"/>
          <p:cNvCxnSpPr/>
          <p:nvPr/>
        </p:nvCxnSpPr>
        <p:spPr>
          <a:xfrm>
            <a:off x="3359696" y="177281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3575720" y="3356992"/>
          <a:ext cx="2760310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9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Connecteur droit avec flèche 29"/>
          <p:cNvCxnSpPr/>
          <p:nvPr/>
        </p:nvCxnSpPr>
        <p:spPr>
          <a:xfrm>
            <a:off x="3719736" y="220486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3935760" y="3356992"/>
          <a:ext cx="2760310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9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Connecteur droit avec flèche 31"/>
          <p:cNvCxnSpPr/>
          <p:nvPr/>
        </p:nvCxnSpPr>
        <p:spPr>
          <a:xfrm>
            <a:off x="4151784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4511824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4871864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5303912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5663952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6096000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>
            <a:off x="6528048" y="2564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Étoile à 5 branches 38"/>
          <p:cNvSpPr/>
          <p:nvPr/>
        </p:nvSpPr>
        <p:spPr>
          <a:xfrm>
            <a:off x="6384032" y="2204864"/>
            <a:ext cx="216024" cy="26632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2639616" y="4824734"/>
            <a:ext cx="8280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43025" indent="-1343025"/>
            <a:r>
              <a:rPr lang="fr-FR" sz="2800" b="1" dirty="0" smtClean="0"/>
              <a:t>Principe : En cas de non correspondance, la fenêtre du motif M glisse d’un cran sur la droite par rapport au texte T. 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Recherche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de motif- Optimisation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927648" y="1700808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/>
              <a:t>Ne pas </a:t>
            </a:r>
            <a:r>
              <a:rPr lang="fr-FR" sz="2800" b="1" dirty="0" err="1"/>
              <a:t>recomparer</a:t>
            </a:r>
            <a:r>
              <a:rPr lang="fr-FR" sz="2800" b="1" dirty="0"/>
              <a:t> les mêmes caractères d’une étape à </a:t>
            </a:r>
            <a:r>
              <a:rPr lang="fr-FR" sz="2800" b="1" dirty="0" smtClean="0"/>
              <a:t>l’autre</a:t>
            </a:r>
          </a:p>
          <a:p>
            <a:pPr marL="265113" indent="-265113">
              <a:buFont typeface="Arial" panose="020B0604020202020204" pitchFamily="34" charset="0"/>
              <a:buChar char="•"/>
            </a:pPr>
            <a:endParaRPr lang="fr-FR" sz="2800" b="1" dirty="0"/>
          </a:p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/>
              <a:t>Décaler le mot de plus d’un caractère à la </a:t>
            </a:r>
            <a:r>
              <a:rPr lang="fr-FR" sz="2800" b="1" dirty="0" smtClean="0"/>
              <a:t>fois</a:t>
            </a:r>
          </a:p>
          <a:p>
            <a:pPr marL="265113" indent="-265113">
              <a:buFont typeface="Arial" panose="020B0604020202020204" pitchFamily="34" charset="0"/>
              <a:buChar char="•"/>
            </a:pPr>
            <a:endParaRPr lang="fr-FR" sz="2800" b="1" dirty="0"/>
          </a:p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/>
              <a:t>Éviter de considérer certaines parties du </a:t>
            </a:r>
            <a:r>
              <a:rPr lang="fr-FR" sz="2800" b="1" dirty="0" smtClean="0"/>
              <a:t>texte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300486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Approche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Morris-Pratt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927648" y="1700808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/>
              <a:t>À chaque étape, décalage de </a:t>
            </a:r>
            <a:r>
              <a:rPr lang="fr-FR" sz="2800" b="1" dirty="0" smtClean="0"/>
              <a:t>M </a:t>
            </a:r>
            <a:r>
              <a:rPr lang="fr-FR" sz="2800" b="1" dirty="0"/>
              <a:t>de plus d’un </a:t>
            </a:r>
            <a:r>
              <a:rPr lang="fr-FR" sz="2800" b="1" dirty="0" smtClean="0"/>
              <a:t>caractère</a:t>
            </a:r>
          </a:p>
          <a:p>
            <a:pPr marL="265113" indent="-265113">
              <a:buFont typeface="Arial" panose="020B0604020202020204" pitchFamily="34" charset="0"/>
              <a:buChar char="•"/>
            </a:pPr>
            <a:endParaRPr lang="fr-FR" sz="2800" b="1" dirty="0"/>
          </a:p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/>
              <a:t>Index  </a:t>
            </a:r>
            <a:r>
              <a:rPr lang="fr-FR" sz="2800" b="1" dirty="0" smtClean="0"/>
              <a:t>i </a:t>
            </a:r>
            <a:r>
              <a:rPr lang="fr-FR" sz="2800" b="1" dirty="0"/>
              <a:t>sur le texte jamais </a:t>
            </a:r>
            <a:r>
              <a:rPr lang="fr-FR" sz="2800" b="1" dirty="0" smtClean="0"/>
              <a:t>décrémenté</a:t>
            </a:r>
          </a:p>
          <a:p>
            <a:pPr marL="265113" indent="-265113">
              <a:buFont typeface="Arial" panose="020B0604020202020204" pitchFamily="34" charset="0"/>
              <a:buChar char="•"/>
            </a:pPr>
            <a:endParaRPr lang="fr-FR" sz="2800" b="1" dirty="0"/>
          </a:p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/>
              <a:t>Les décalages ne dépendent que </a:t>
            </a:r>
            <a:r>
              <a:rPr lang="fr-FR" sz="2800" b="1" dirty="0" smtClean="0"/>
              <a:t>du motif M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424823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Approche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Morris-Pratt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998865"/>
              </p:ext>
            </p:extLst>
          </p:nvPr>
        </p:nvGraphicFramePr>
        <p:xfrm>
          <a:off x="3287688" y="1916832"/>
          <a:ext cx="8128000" cy="45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796079873"/>
                    </a:ext>
                  </a:extLst>
                </a:gridCol>
                <a:gridCol w="380752">
                  <a:extLst>
                    <a:ext uri="{9D8B030D-6E8A-4147-A177-3AD203B41FA5}">
                      <a16:colId xmlns:a16="http://schemas.microsoft.com/office/drawing/2014/main" val="4880553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138058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70969397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136969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436145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7194179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06523827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22445718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7904029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4240356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3921182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379191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7094874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49110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6183364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7333794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44940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64780353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877391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04590"/>
                  </a:ext>
                </a:extLst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097799"/>
              </p:ext>
            </p:extLst>
          </p:nvPr>
        </p:nvGraphicFramePr>
        <p:xfrm>
          <a:off x="4905201" y="2822912"/>
          <a:ext cx="403245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306711194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8455361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57492077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63271021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415230878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146420079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81925112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789988524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7897491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924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u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37595"/>
                  </a:ext>
                </a:extLst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684393" y="186979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T</a:t>
            </a: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079776" y="28229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M</a:t>
            </a:r>
            <a:endParaRPr lang="fr-FR" sz="2400" b="1" dirty="0">
              <a:solidFill>
                <a:srgbClr val="0070C0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4871864" y="1584555"/>
            <a:ext cx="29497" cy="198846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4973901" y="146795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4794881" y="353670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j=0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8472264" y="3536704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j=m-1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764825" y="4206934"/>
            <a:ext cx="828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800" b="1" dirty="0" smtClean="0"/>
              <a:t>On commence la comparaison</a:t>
            </a:r>
            <a:endParaRPr lang="fr-FR" sz="2800" b="1" dirty="0"/>
          </a:p>
        </p:txBody>
      </p:sp>
      <p:sp>
        <p:nvSpPr>
          <p:cNvPr id="19" name="Rectangle 18"/>
          <p:cNvSpPr/>
          <p:nvPr/>
        </p:nvSpPr>
        <p:spPr>
          <a:xfrm>
            <a:off x="4901361" y="1869794"/>
            <a:ext cx="397044" cy="1458345"/>
          </a:xfrm>
          <a:prstGeom prst="rect">
            <a:avLst/>
          </a:prstGeom>
          <a:solidFill>
            <a:schemeClr val="accent2">
              <a:lumMod val="40000"/>
              <a:lumOff val="60000"/>
              <a:alpha val="41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6102780" y="1868636"/>
            <a:ext cx="397044" cy="1458345"/>
          </a:xfrm>
          <a:prstGeom prst="rect">
            <a:avLst/>
          </a:prstGeom>
          <a:solidFill>
            <a:schemeClr val="accent2">
              <a:lumMod val="40000"/>
              <a:lumOff val="60000"/>
              <a:alpha val="41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4928592" y="230736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12118" y="1873423"/>
            <a:ext cx="397044" cy="1458345"/>
          </a:xfrm>
          <a:prstGeom prst="rect">
            <a:avLst/>
          </a:prstGeom>
          <a:solidFill>
            <a:schemeClr val="accent2">
              <a:lumMod val="40000"/>
              <a:lumOff val="60000"/>
              <a:alpha val="41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305528" y="231766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733579" y="232528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139784" y="233557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533307" y="232528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6961875" y="233557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7312118" y="233557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7755359" y="23348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8153497" y="232245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✘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9319151" y="2820679"/>
            <a:ext cx="2870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</a:rPr>
              <a:t>avec m = </a:t>
            </a:r>
            <a:r>
              <a:rPr lang="fr-FR" sz="2400" dirty="0" err="1" smtClean="0">
                <a:solidFill>
                  <a:srgbClr val="0070C0"/>
                </a:solidFill>
              </a:rPr>
              <a:t>len</a:t>
            </a:r>
            <a:r>
              <a:rPr lang="fr-FR" sz="2400" dirty="0" smtClean="0">
                <a:solidFill>
                  <a:srgbClr val="0070C0"/>
                </a:solidFill>
              </a:rPr>
              <a:t>(M)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52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0.03255 0.00023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55 0.00023 L 0.06615 0.00023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15 0.00023 L 0.09818 0.0002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6 L 0.03255 0.00024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55 0.00024 L 0.06614 0.00024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14 0.00024 L 0.09817 0.00024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85185E-6 L 0.03255 0.00023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55 0.00023 L 0.06614 0.00023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8" grpId="0"/>
      <p:bldP spid="19" grpId="0" animBg="1"/>
      <p:bldP spid="19" grpId="1" animBg="1"/>
      <p:bldP spid="19" grpId="2" animBg="1"/>
      <p:bldP spid="19" grpId="3" animBg="1"/>
      <p:bldP spid="19" grpId="4" animBg="1"/>
      <p:bldP spid="20" grpId="0" animBg="1"/>
      <p:bldP spid="20" grpId="1" animBg="1"/>
      <p:bldP spid="20" grpId="2" animBg="1"/>
      <p:bldP spid="20" grpId="3" animBg="1"/>
      <p:bldP spid="20" grpId="4" animBg="1"/>
      <p:bldP spid="21" grpId="0"/>
      <p:bldP spid="22" grpId="0" animBg="1"/>
      <p:bldP spid="22" grpId="1" animBg="1"/>
      <p:bldP spid="22" grpId="2" animBg="1"/>
      <p:bldP spid="22" grpId="4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Approche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Morris-Pratt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998865"/>
              </p:ext>
            </p:extLst>
          </p:nvPr>
        </p:nvGraphicFramePr>
        <p:xfrm>
          <a:off x="3287688" y="1916832"/>
          <a:ext cx="8128000" cy="45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796079873"/>
                    </a:ext>
                  </a:extLst>
                </a:gridCol>
                <a:gridCol w="380752">
                  <a:extLst>
                    <a:ext uri="{9D8B030D-6E8A-4147-A177-3AD203B41FA5}">
                      <a16:colId xmlns:a16="http://schemas.microsoft.com/office/drawing/2014/main" val="4880553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138058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70969397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136969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436145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7194179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06523827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22445718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7904029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4240356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3921182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379191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7094874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49110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6183364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7333794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44940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64780353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877391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04590"/>
                  </a:ext>
                </a:extLst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097799"/>
              </p:ext>
            </p:extLst>
          </p:nvPr>
        </p:nvGraphicFramePr>
        <p:xfrm>
          <a:off x="4905201" y="2822912"/>
          <a:ext cx="403245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306711194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8455361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57492077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63271021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415230878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146420079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81925112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789988524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7897491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924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u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37595"/>
                  </a:ext>
                </a:extLst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684393" y="186979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T</a:t>
            </a: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079776" y="28229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M</a:t>
            </a:r>
            <a:endParaRPr lang="fr-FR" sz="2400" b="1" dirty="0">
              <a:solidFill>
                <a:srgbClr val="0070C0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4871864" y="1584555"/>
            <a:ext cx="29497" cy="198846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4973901" y="146795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4794881" y="353670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j=0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8472264" y="3536704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j=m-1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928592" y="230736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305528" y="231766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733579" y="232528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139784" y="233557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533307" y="232528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6961875" y="233557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7312118" y="233557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7755359" y="23348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✔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8153497" y="232245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✘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8105839" y="1514095"/>
            <a:ext cx="71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C00000"/>
                </a:solidFill>
              </a:rPr>
              <a:t>i+j</a:t>
            </a:r>
            <a:endParaRPr lang="fr-FR" sz="2400" b="1" dirty="0">
              <a:solidFill>
                <a:srgbClr val="C00000"/>
              </a:solidFill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8002680" y="3224521"/>
            <a:ext cx="71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C00000"/>
                </a:solidFill>
              </a:rPr>
              <a:t>j=8</a:t>
            </a:r>
            <a:endParaRPr lang="fr-FR" sz="2400" b="1" dirty="0">
              <a:solidFill>
                <a:srgbClr val="C00000"/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2764824" y="4681088"/>
            <a:ext cx="9163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000" b="1" dirty="0" smtClean="0"/>
              <a:t>On constate une valeur différente à l’indice j=8 du motif et donc </a:t>
            </a:r>
            <a:r>
              <a:rPr lang="fr-FR" sz="2000" b="1" dirty="0" err="1" smtClean="0"/>
              <a:t>i+j</a:t>
            </a:r>
            <a:r>
              <a:rPr lang="fr-FR" sz="2000" b="1" dirty="0" smtClean="0"/>
              <a:t> du texte.</a:t>
            </a:r>
            <a:endParaRPr lang="fr-FR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8158855" y="1916833"/>
            <a:ext cx="397044" cy="427116"/>
          </a:xfrm>
          <a:prstGeom prst="rect">
            <a:avLst/>
          </a:prstGeom>
          <a:pattFill prst="wdDn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8134995" y="2820052"/>
            <a:ext cx="397044" cy="427116"/>
          </a:xfrm>
          <a:prstGeom prst="rect">
            <a:avLst/>
          </a:prstGeom>
          <a:pattFill prst="wdDn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2774549" y="5038017"/>
            <a:ext cx="91638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000" b="1" dirty="0" smtClean="0"/>
              <a:t>On va faire glisser la fenêtre du motif le plus à droite possible en s’assurant de ne perdre aucune possibilité.  Un glissement de 8 cases peut sembler intéressant mais il ne faut pas oublier les possibilités de chevauchement. Donc la méthode consiste à chercher le plus long </a:t>
            </a:r>
            <a:r>
              <a:rPr lang="fr-FR" sz="2000" b="1" dirty="0" smtClean="0">
                <a:solidFill>
                  <a:srgbClr val="EF21A5"/>
                </a:solidFill>
              </a:rPr>
              <a:t>préfixe</a:t>
            </a:r>
            <a:r>
              <a:rPr lang="fr-FR" sz="2000" b="1" dirty="0" smtClean="0"/>
              <a:t> du motif qui soit identique au </a:t>
            </a:r>
            <a:r>
              <a:rPr lang="fr-FR" sz="2000" b="1" dirty="0" smtClean="0">
                <a:solidFill>
                  <a:srgbClr val="F6981A"/>
                </a:solidFill>
              </a:rPr>
              <a:t>suffixe</a:t>
            </a:r>
            <a:r>
              <a:rPr lang="fr-FR" sz="2000" b="1" dirty="0" smtClean="0"/>
              <a:t> du texte parcouru (qui se trouve être aussi le </a:t>
            </a:r>
            <a:r>
              <a:rPr lang="fr-FR" sz="2000" b="1" dirty="0" smtClean="0">
                <a:solidFill>
                  <a:srgbClr val="F6981A"/>
                </a:solidFill>
              </a:rPr>
              <a:t>suffixe</a:t>
            </a:r>
            <a:r>
              <a:rPr lang="fr-FR" sz="2000" b="1" dirty="0" smtClean="0"/>
              <a:t> du motif déjà parcouru). </a:t>
            </a:r>
            <a:endParaRPr lang="fr-FR" sz="2000" b="1" dirty="0"/>
          </a:p>
        </p:txBody>
      </p:sp>
      <p:sp>
        <p:nvSpPr>
          <p:cNvPr id="37" name="Rectangle 36"/>
          <p:cNvSpPr/>
          <p:nvPr/>
        </p:nvSpPr>
        <p:spPr>
          <a:xfrm>
            <a:off x="4901361" y="2842475"/>
            <a:ext cx="1192258" cy="427116"/>
          </a:xfrm>
          <a:prstGeom prst="rect">
            <a:avLst/>
          </a:prstGeom>
          <a:noFill/>
          <a:ln w="44450">
            <a:solidFill>
              <a:srgbClr val="EF21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/>
          <p:cNvSpPr/>
          <p:nvPr/>
        </p:nvSpPr>
        <p:spPr>
          <a:xfrm>
            <a:off x="6951121" y="1916422"/>
            <a:ext cx="1192258" cy="427116"/>
          </a:xfrm>
          <a:prstGeom prst="rect">
            <a:avLst/>
          </a:prstGeom>
          <a:noFill/>
          <a:ln w="44450">
            <a:solidFill>
              <a:srgbClr val="F698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/>
          <p:cNvSpPr/>
          <p:nvPr/>
        </p:nvSpPr>
        <p:spPr>
          <a:xfrm>
            <a:off x="6938897" y="2820052"/>
            <a:ext cx="1192258" cy="427116"/>
          </a:xfrm>
          <a:prstGeom prst="rect">
            <a:avLst/>
          </a:prstGeom>
          <a:noFill/>
          <a:ln w="44450">
            <a:solidFill>
              <a:srgbClr val="F698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18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/>
      <p:bldP spid="37" grpId="0" animBg="1"/>
      <p:bldP spid="38" grpId="0" animBg="1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Approche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Morris-Pratt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998865"/>
              </p:ext>
            </p:extLst>
          </p:nvPr>
        </p:nvGraphicFramePr>
        <p:xfrm>
          <a:off x="3287688" y="1916832"/>
          <a:ext cx="8128000" cy="45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796079873"/>
                    </a:ext>
                  </a:extLst>
                </a:gridCol>
                <a:gridCol w="380752">
                  <a:extLst>
                    <a:ext uri="{9D8B030D-6E8A-4147-A177-3AD203B41FA5}">
                      <a16:colId xmlns:a16="http://schemas.microsoft.com/office/drawing/2014/main" val="4880553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138058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70969397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136969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436145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7194179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06523827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22445718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79040295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42403562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3921182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379191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7094874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85491104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96183364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7333794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7449407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64780353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877391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.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.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04590"/>
                  </a:ext>
                </a:extLst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65601"/>
              </p:ext>
            </p:extLst>
          </p:nvPr>
        </p:nvGraphicFramePr>
        <p:xfrm>
          <a:off x="4905201" y="2822912"/>
          <a:ext cx="403245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306711194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8455361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57492077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63271021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415230878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146420079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81925112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789988524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7897491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924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>
                    <a:solidFill>
                      <a:srgbClr val="F69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>
                    <a:solidFill>
                      <a:srgbClr val="F69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>
                    <a:solidFill>
                      <a:srgbClr val="F69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u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37595"/>
                  </a:ext>
                </a:extLst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684393" y="186979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T</a:t>
            </a: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079776" y="28229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M</a:t>
            </a:r>
            <a:endParaRPr lang="fr-FR" sz="2400" b="1" dirty="0">
              <a:solidFill>
                <a:srgbClr val="0070C0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4866319" y="1584556"/>
            <a:ext cx="35042" cy="28900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4973901" y="146795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2764824" y="4681088"/>
            <a:ext cx="9163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000" b="1" dirty="0" smtClean="0"/>
              <a:t>On fait alors glisser la fenêtre du motif pour poursuivre la recherche.</a:t>
            </a:r>
            <a:endParaRPr lang="fr-FR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8158855" y="1916833"/>
            <a:ext cx="397044" cy="427116"/>
          </a:xfrm>
          <a:prstGeom prst="rect">
            <a:avLst/>
          </a:prstGeom>
          <a:pattFill prst="wdDn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8134995" y="2820052"/>
            <a:ext cx="397044" cy="427116"/>
          </a:xfrm>
          <a:prstGeom prst="rect">
            <a:avLst/>
          </a:prstGeom>
          <a:pattFill prst="wdDn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" name="Connecteur droit 39"/>
          <p:cNvCxnSpPr/>
          <p:nvPr/>
        </p:nvCxnSpPr>
        <p:spPr>
          <a:xfrm flipV="1">
            <a:off x="6934136" y="1848245"/>
            <a:ext cx="19060" cy="262635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>
          <a:xfrm>
            <a:off x="8002680" y="3224521"/>
            <a:ext cx="71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C00000"/>
                </a:solidFill>
              </a:rPr>
              <a:t>j=8</a:t>
            </a:r>
            <a:endParaRPr lang="fr-FR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42" name="Tableau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1684"/>
              </p:ext>
            </p:extLst>
          </p:nvPr>
        </p:nvGraphicFramePr>
        <p:xfrm>
          <a:off x="4917911" y="3759818"/>
          <a:ext cx="403245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306711194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8455361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57492077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63271021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415230878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1464200795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819251127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789988524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7897491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39924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>
                    <a:solidFill>
                      <a:srgbClr val="F69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>
                    <a:solidFill>
                      <a:srgbClr val="F69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>
                    <a:solidFill>
                      <a:srgbClr val="F69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d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e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b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c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u</a:t>
                      </a:r>
                      <a:endParaRPr lang="fr-FR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/>
                        <a:t>a</a:t>
                      </a:r>
                      <a:endParaRPr lang="fr-FR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37595"/>
                  </a:ext>
                </a:extLst>
              </a:tr>
            </a:tbl>
          </a:graphicData>
        </a:graphic>
      </p:graphicFrame>
      <p:sp>
        <p:nvSpPr>
          <p:cNvPr id="43" name="ZoneTexte 42"/>
          <p:cNvSpPr txBox="1"/>
          <p:nvPr/>
        </p:nvSpPr>
        <p:spPr>
          <a:xfrm>
            <a:off x="2782935" y="6091489"/>
            <a:ext cx="9163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000" b="1" dirty="0" smtClean="0"/>
              <a:t>On peut maintenant poursuivre la recherche.</a:t>
            </a:r>
            <a:endParaRPr lang="fr-FR" sz="2000" b="1" dirty="0"/>
          </a:p>
        </p:txBody>
      </p:sp>
      <p:sp>
        <p:nvSpPr>
          <p:cNvPr id="44" name="ZoneTexte 43"/>
          <p:cNvSpPr txBox="1"/>
          <p:nvPr/>
        </p:nvSpPr>
        <p:spPr>
          <a:xfrm>
            <a:off x="2782935" y="5088965"/>
            <a:ext cx="9163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</a:pPr>
            <a:r>
              <a:rPr lang="fr-FR" sz="2000" b="1" dirty="0" smtClean="0"/>
              <a:t>Le décalage de la fenêtre correspond à j-d où d est la longueur du préfixe .</a:t>
            </a:r>
          </a:p>
          <a:p>
            <a:pPr marL="269875"/>
            <a:r>
              <a:rPr lang="fr-FR" sz="2000" b="1" dirty="0" smtClean="0"/>
              <a:t>Ici j=8 et d=3 donc le décalage est 8-3=5 cases</a:t>
            </a:r>
          </a:p>
          <a:p>
            <a:pPr marL="269875"/>
            <a:r>
              <a:rPr lang="fr-FR" sz="2000" b="1" dirty="0" smtClean="0"/>
              <a:t>Le motif est donc maintenant positionné en </a:t>
            </a:r>
            <a:r>
              <a:rPr lang="fr-FR" sz="2000" b="1" dirty="0" err="1" smtClean="0"/>
              <a:t>i+j-d</a:t>
            </a:r>
            <a:r>
              <a:rPr lang="fr-FR" sz="2000" b="1" dirty="0" smtClean="0"/>
              <a:t>=i+5</a:t>
            </a:r>
            <a:endParaRPr lang="fr-FR" sz="2000" b="1" dirty="0"/>
          </a:p>
        </p:txBody>
      </p:sp>
      <p:grpSp>
        <p:nvGrpSpPr>
          <p:cNvPr id="14" name="Groupe 13"/>
          <p:cNvGrpSpPr/>
          <p:nvPr/>
        </p:nvGrpSpPr>
        <p:grpSpPr>
          <a:xfrm>
            <a:off x="4917911" y="4332594"/>
            <a:ext cx="2005788" cy="461665"/>
            <a:chOff x="4917911" y="4332594"/>
            <a:chExt cx="2005788" cy="461665"/>
          </a:xfrm>
        </p:grpSpPr>
        <p:cxnSp>
          <p:nvCxnSpPr>
            <p:cNvPr id="4" name="Connecteur droit avec flèche 3"/>
            <p:cNvCxnSpPr/>
            <p:nvPr/>
          </p:nvCxnSpPr>
          <p:spPr>
            <a:xfrm>
              <a:off x="4917911" y="4365104"/>
              <a:ext cx="2005788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ZoneTexte 44"/>
            <p:cNvSpPr txBox="1"/>
            <p:nvPr/>
          </p:nvSpPr>
          <p:spPr>
            <a:xfrm>
              <a:off x="5612358" y="4332594"/>
              <a:ext cx="11112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 smtClean="0">
                  <a:solidFill>
                    <a:srgbClr val="0070C0"/>
                  </a:solidFill>
                </a:rPr>
                <a:t>j-d</a:t>
              </a:r>
              <a:endParaRPr lang="fr-FR" sz="24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6934136" y="2329283"/>
            <a:ext cx="1566937" cy="461665"/>
            <a:chOff x="6934136" y="2329283"/>
            <a:chExt cx="1566937" cy="461665"/>
          </a:xfrm>
        </p:grpSpPr>
        <p:cxnSp>
          <p:nvCxnSpPr>
            <p:cNvPr id="46" name="Connecteur droit avec flèche 45"/>
            <p:cNvCxnSpPr/>
            <p:nvPr/>
          </p:nvCxnSpPr>
          <p:spPr>
            <a:xfrm>
              <a:off x="6934136" y="2708920"/>
              <a:ext cx="1266647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ZoneTexte 46"/>
            <p:cNvSpPr txBox="1"/>
            <p:nvPr/>
          </p:nvSpPr>
          <p:spPr>
            <a:xfrm>
              <a:off x="7389774" y="2329283"/>
              <a:ext cx="11112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 smtClean="0">
                  <a:solidFill>
                    <a:srgbClr val="0070C0"/>
                  </a:solidFill>
                </a:rPr>
                <a:t>d</a:t>
              </a:r>
              <a:endParaRPr lang="fr-FR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48" name="ZoneTexte 47"/>
          <p:cNvSpPr txBox="1"/>
          <p:nvPr/>
        </p:nvSpPr>
        <p:spPr>
          <a:xfrm>
            <a:off x="6953196" y="147950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3">
                    <a:lumMod val="75000"/>
                  </a:schemeClr>
                </a:solidFill>
              </a:rPr>
              <a:t>i+5</a:t>
            </a: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1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48148E-6 L 0.16484 0.0013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4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40283"/>
              </p:ext>
            </p:extLst>
          </p:nvPr>
        </p:nvGraphicFramePr>
        <p:xfrm>
          <a:off x="2063552" y="2006809"/>
          <a:ext cx="8280928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49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9433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rgbClr val="FF0000"/>
                          </a:solidFill>
                        </a:rPr>
                        <a:t>T:</a:t>
                      </a:r>
                      <a:endParaRPr lang="fr-FR" sz="2400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Connecteur droit avec flèche 31"/>
          <p:cNvCxnSpPr/>
          <p:nvPr/>
        </p:nvCxnSpPr>
        <p:spPr>
          <a:xfrm>
            <a:off x="3791744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3071664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2711624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62684"/>
              </p:ext>
            </p:extLst>
          </p:nvPr>
        </p:nvGraphicFramePr>
        <p:xfrm>
          <a:off x="2557945" y="2510865"/>
          <a:ext cx="3024336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78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Connecteur droit avec flèche 11"/>
          <p:cNvCxnSpPr/>
          <p:nvPr/>
        </p:nvCxnSpPr>
        <p:spPr>
          <a:xfrm>
            <a:off x="3431704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4151784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4583832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4943872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5375920" y="1718777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au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70094"/>
              </p:ext>
            </p:extLst>
          </p:nvPr>
        </p:nvGraphicFramePr>
        <p:xfrm>
          <a:off x="3863752" y="4509120"/>
          <a:ext cx="3024336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78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Connecteur droit avec flèche 41"/>
          <p:cNvCxnSpPr/>
          <p:nvPr/>
        </p:nvCxnSpPr>
        <p:spPr>
          <a:xfrm flipH="1" flipV="1">
            <a:off x="4655840" y="5085186"/>
            <a:ext cx="2088232" cy="11521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6744072" y="5877272"/>
            <a:ext cx="2232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002060"/>
                </a:solidFill>
              </a:rPr>
              <a:t>Plus long </a:t>
            </a:r>
            <a:r>
              <a:rPr lang="fr-FR" sz="2400" dirty="0" smtClean="0">
                <a:solidFill>
                  <a:srgbClr val="002060"/>
                </a:solidFill>
              </a:rPr>
              <a:t>préfixe</a:t>
            </a:r>
            <a:endParaRPr lang="fr-FR" sz="2400" dirty="0">
              <a:solidFill>
                <a:srgbClr val="002060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2820145" y="4509121"/>
            <a:ext cx="958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C00000"/>
                </a:solidFill>
              </a:rPr>
              <a:t>Motif:</a:t>
            </a:r>
            <a:endParaRPr lang="fr-FR" sz="2400" dirty="0">
              <a:solidFill>
                <a:srgbClr val="C00000"/>
              </a:solidFill>
            </a:endParaRPr>
          </a:p>
        </p:txBody>
      </p:sp>
      <p:graphicFrame>
        <p:nvGraphicFramePr>
          <p:cNvPr id="53" name="Tableau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322194"/>
              </p:ext>
            </p:extLst>
          </p:nvPr>
        </p:nvGraphicFramePr>
        <p:xfrm>
          <a:off x="4070113" y="3028631"/>
          <a:ext cx="3024336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78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2495600" y="2438857"/>
            <a:ext cx="2664296" cy="5760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/>
          <p:cNvSpPr/>
          <p:nvPr/>
        </p:nvSpPr>
        <p:spPr>
          <a:xfrm>
            <a:off x="3791744" y="4149080"/>
            <a:ext cx="2736304" cy="12241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7" name="Connecteur droit 66"/>
          <p:cNvCxnSpPr/>
          <p:nvPr/>
        </p:nvCxnSpPr>
        <p:spPr>
          <a:xfrm>
            <a:off x="5375920" y="5085184"/>
            <a:ext cx="1080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3935760" y="5085184"/>
            <a:ext cx="100811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4C2E14B2-6DC3-42D6-BF33-663B4E698C25}"/>
              </a:ext>
            </a:extLst>
          </p:cNvPr>
          <p:cNvCxnSpPr/>
          <p:nvPr/>
        </p:nvCxnSpPr>
        <p:spPr>
          <a:xfrm>
            <a:off x="2567608" y="2942913"/>
            <a:ext cx="100811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au 37">
            <a:extLst>
              <a:ext uri="{FF2B5EF4-FFF2-40B4-BE49-F238E27FC236}">
                <a16:creationId xmlns:a16="http://schemas.microsoft.com/office/drawing/2014/main" id="{E16136B5-1707-4E37-A8CB-454D0207C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4940"/>
              </p:ext>
            </p:extLst>
          </p:nvPr>
        </p:nvGraphicFramePr>
        <p:xfrm>
          <a:off x="4871864" y="3474389"/>
          <a:ext cx="3024336" cy="576064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378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0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052F5CC3-C779-47D5-8E50-C03901392486}"/>
              </a:ext>
            </a:extLst>
          </p:cNvPr>
          <p:cNvCxnSpPr/>
          <p:nvPr/>
        </p:nvCxnSpPr>
        <p:spPr>
          <a:xfrm>
            <a:off x="5375920" y="1376993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2F37228-B2B3-44FE-9CA0-47D078F59499}"/>
              </a:ext>
            </a:extLst>
          </p:cNvPr>
          <p:cNvCxnSpPr/>
          <p:nvPr/>
        </p:nvCxnSpPr>
        <p:spPr>
          <a:xfrm>
            <a:off x="5396915" y="1088961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F4BC59F1-70D1-4865-B635-382970264212}"/>
              </a:ext>
            </a:extLst>
          </p:cNvPr>
          <p:cNvCxnSpPr/>
          <p:nvPr/>
        </p:nvCxnSpPr>
        <p:spPr>
          <a:xfrm>
            <a:off x="5807968" y="1088961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F924F9EA-8322-4BD9-8733-1E6322278C9A}"/>
              </a:ext>
            </a:extLst>
          </p:cNvPr>
          <p:cNvCxnSpPr/>
          <p:nvPr/>
        </p:nvCxnSpPr>
        <p:spPr>
          <a:xfrm>
            <a:off x="6168008" y="1088961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D8D7FB44-368C-45EC-ADE2-886E1E96FBC6}"/>
              </a:ext>
            </a:extLst>
          </p:cNvPr>
          <p:cNvCxnSpPr/>
          <p:nvPr/>
        </p:nvCxnSpPr>
        <p:spPr>
          <a:xfrm>
            <a:off x="6528048" y="1088961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FC1CB92C-B428-4020-90CD-2A57A56CFBF2}"/>
              </a:ext>
            </a:extLst>
          </p:cNvPr>
          <p:cNvCxnSpPr/>
          <p:nvPr/>
        </p:nvCxnSpPr>
        <p:spPr>
          <a:xfrm>
            <a:off x="6888088" y="1088961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2C31700F-3500-4D02-A04E-2848AFA8074E}"/>
              </a:ext>
            </a:extLst>
          </p:cNvPr>
          <p:cNvCxnSpPr/>
          <p:nvPr/>
        </p:nvCxnSpPr>
        <p:spPr>
          <a:xfrm>
            <a:off x="7320136" y="1115399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8D86CA92-ABFF-4DC6-A896-01FCC21E5C0B}"/>
              </a:ext>
            </a:extLst>
          </p:cNvPr>
          <p:cNvCxnSpPr/>
          <p:nvPr/>
        </p:nvCxnSpPr>
        <p:spPr>
          <a:xfrm>
            <a:off x="7680176" y="1115399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Étoile à 5 branches 61">
            <a:extLst>
              <a:ext uri="{FF2B5EF4-FFF2-40B4-BE49-F238E27FC236}">
                <a16:creationId xmlns:a16="http://schemas.microsoft.com/office/drawing/2014/main" id="{957115D1-C094-4B64-8003-F7A23FA6AAC3}"/>
              </a:ext>
            </a:extLst>
          </p:cNvPr>
          <p:cNvSpPr/>
          <p:nvPr/>
        </p:nvSpPr>
        <p:spPr>
          <a:xfrm>
            <a:off x="7608168" y="1124744"/>
            <a:ext cx="216024" cy="26632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itre 1"/>
          <p:cNvSpPr>
            <a:spLocks noGrp="1"/>
          </p:cNvSpPr>
          <p:nvPr>
            <p:ph type="title"/>
          </p:nvPr>
        </p:nvSpPr>
        <p:spPr>
          <a:xfrm>
            <a:off x="2581270" y="206046"/>
            <a:ext cx="8229600" cy="1143000"/>
          </a:xfrm>
        </p:spPr>
        <p:txBody>
          <a:bodyPr>
            <a:normAutofit/>
          </a:bodyPr>
          <a:lstStyle/>
          <a:p>
            <a:r>
              <a:rPr lang="fr-FR" dirty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Approche </a:t>
            </a:r>
            <a:r>
              <a:rPr lang="fr-FR" dirty="0" smtClean="0">
                <a:ln w="0"/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Morris-Pratt</a:t>
            </a:r>
            <a:endParaRPr lang="fr-FR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2495600" y="1258590"/>
            <a:ext cx="9163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Autre exemple :</a:t>
            </a:r>
            <a:endParaRPr lang="fr-FR" sz="2000" b="1" dirty="0"/>
          </a:p>
        </p:txBody>
      </p:sp>
      <p:grpSp>
        <p:nvGrpSpPr>
          <p:cNvPr id="5" name="Groupe 4"/>
          <p:cNvGrpSpPr/>
          <p:nvPr/>
        </p:nvGrpSpPr>
        <p:grpSpPr>
          <a:xfrm>
            <a:off x="9373565" y="2932098"/>
            <a:ext cx="1835003" cy="2234385"/>
            <a:chOff x="9373565" y="2932098"/>
            <a:chExt cx="1835003" cy="2234385"/>
          </a:xfrm>
        </p:grpSpPr>
        <p:pic>
          <p:nvPicPr>
            <p:cNvPr id="52" name="Image 51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3565" y="2932098"/>
              <a:ext cx="1835003" cy="1865053"/>
            </a:xfrm>
            <a:prstGeom prst="rect">
              <a:avLst/>
            </a:prstGeom>
          </p:spPr>
        </p:pic>
        <p:sp>
          <p:nvSpPr>
            <p:cNvPr id="4" name="ZoneTexte 3"/>
            <p:cNvSpPr txBox="1"/>
            <p:nvPr/>
          </p:nvSpPr>
          <p:spPr>
            <a:xfrm>
              <a:off x="9733605" y="4797151"/>
              <a:ext cx="1367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Motif trouvé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58598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1" grpId="0" animBg="1"/>
      <p:bldP spid="43" grpId="0" animBg="1"/>
      <p:bldP spid="63" grpId="0" animBg="1"/>
      <p:bldP spid="63" grpId="1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7825</TotalTime>
  <Words>518</Words>
  <Application>Microsoft Office PowerPoint</Application>
  <PresentationFormat>Grand écran</PresentationFormat>
  <Paragraphs>281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MS Gothic</vt:lpstr>
      <vt:lpstr>Arial</vt:lpstr>
      <vt:lpstr>Arial Rounded MT Bold</vt:lpstr>
      <vt:lpstr>Calibri</vt:lpstr>
      <vt:lpstr>Thème Office</vt:lpstr>
      <vt:lpstr>Recherche exacte de motifs :  de l’ago naïf à l’algo Morris-Pratt</vt:lpstr>
      <vt:lpstr>Recherche de motif- Algorithme naïf</vt:lpstr>
      <vt:lpstr>Recherche de motif- Optimisation</vt:lpstr>
      <vt:lpstr>Approche Morris-Pratt</vt:lpstr>
      <vt:lpstr>Approche Morris-Pratt</vt:lpstr>
      <vt:lpstr>Approche Morris-Pratt</vt:lpstr>
      <vt:lpstr>Approche Morris-Pratt</vt:lpstr>
      <vt:lpstr>Approche Morris-Pratt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Recherche exacte de motifs</dc:title>
  <dc:creator>Nadia</dc:creator>
  <cp:lastModifiedBy>Admin</cp:lastModifiedBy>
  <cp:revision>182</cp:revision>
  <dcterms:created xsi:type="dcterms:W3CDTF">2011-09-01T14:43:47Z</dcterms:created>
  <dcterms:modified xsi:type="dcterms:W3CDTF">2021-02-02T08:45:38Z</dcterms:modified>
</cp:coreProperties>
</file>